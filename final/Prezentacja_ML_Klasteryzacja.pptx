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4CF900-FD81-991D-FCFA-47936905505D}" v="1711" dt="2025-06-09T17:04:07.1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0C86135-3879-4F8E-B303-88C213AD4B87}" type="doc">
      <dgm:prSet loTypeId="urn:microsoft.com/office/officeart/2005/8/layout/hierarchy3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9052AA62-FF53-46E9-ABBA-AC50731921C3}">
      <dgm:prSet/>
      <dgm:spPr/>
      <dgm:t>
        <a:bodyPr/>
        <a:lstStyle/>
        <a:p>
          <a:r>
            <a:rPr lang="pl-PL"/>
            <a:t>Parametry zostały dobrane używając funkcji grid_search wykorzystujących wiele metryk oceniania jakości modelu, co zapewnia, że wybrane przez nas parametry dają najlepsze możliwe wyniki</a:t>
          </a:r>
          <a:endParaRPr lang="en-US"/>
        </a:p>
      </dgm:t>
    </dgm:pt>
    <dgm:pt modelId="{85CE6B35-A97B-4BFB-9AE9-87C27434662A}" type="parTrans" cxnId="{0E036BA9-AE4A-49D4-A034-C6BB77D1A916}">
      <dgm:prSet/>
      <dgm:spPr/>
      <dgm:t>
        <a:bodyPr/>
        <a:lstStyle/>
        <a:p>
          <a:endParaRPr lang="en-US"/>
        </a:p>
      </dgm:t>
    </dgm:pt>
    <dgm:pt modelId="{9FFC3312-30CF-4C6B-8D6A-08BB888D5B23}" type="sibTrans" cxnId="{0E036BA9-AE4A-49D4-A034-C6BB77D1A916}">
      <dgm:prSet/>
      <dgm:spPr/>
      <dgm:t>
        <a:bodyPr/>
        <a:lstStyle/>
        <a:p>
          <a:endParaRPr lang="en-US"/>
        </a:p>
      </dgm:t>
    </dgm:pt>
    <dgm:pt modelId="{5846CE38-84DD-48E9-9407-536B13D8AC72}">
      <dgm:prSet/>
      <dgm:spPr/>
      <dgm:t>
        <a:bodyPr/>
        <a:lstStyle/>
        <a:p>
          <a:r>
            <a:rPr lang="pl-PL"/>
            <a:t>Chcieliśmy uniknąć oczywistego podziału na osoby zatrudnione i nie, zatem postanowiliśmy wybrać podział na 3 klastry zamiast 2.</a:t>
          </a:r>
          <a:endParaRPr lang="en-US"/>
        </a:p>
      </dgm:t>
    </dgm:pt>
    <dgm:pt modelId="{B0E7B164-BA22-4435-AC51-40DADA68A593}" type="parTrans" cxnId="{F05E3F9F-618F-4F96-B3A5-03BB51EB5308}">
      <dgm:prSet/>
      <dgm:spPr/>
      <dgm:t>
        <a:bodyPr/>
        <a:lstStyle/>
        <a:p>
          <a:endParaRPr lang="en-US"/>
        </a:p>
      </dgm:t>
    </dgm:pt>
    <dgm:pt modelId="{2DE70572-4930-40A0-85BD-A046535CED2C}" type="sibTrans" cxnId="{F05E3F9F-618F-4F96-B3A5-03BB51EB5308}">
      <dgm:prSet/>
      <dgm:spPr/>
      <dgm:t>
        <a:bodyPr/>
        <a:lstStyle/>
        <a:p>
          <a:endParaRPr lang="en-US"/>
        </a:p>
      </dgm:t>
    </dgm:pt>
    <dgm:pt modelId="{9C840DB2-DB9F-4DD6-BA67-C25F7CA8C749}" type="pres">
      <dgm:prSet presAssocID="{B0C86135-3879-4F8E-B303-88C213AD4B87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711DC75-6C87-4861-AE45-F8C8E9086FBA}" type="pres">
      <dgm:prSet presAssocID="{9052AA62-FF53-46E9-ABBA-AC50731921C3}" presName="root" presStyleCnt="0"/>
      <dgm:spPr/>
    </dgm:pt>
    <dgm:pt modelId="{A1D4C386-EB67-4F45-AEDA-68BAED37FBC1}" type="pres">
      <dgm:prSet presAssocID="{9052AA62-FF53-46E9-ABBA-AC50731921C3}" presName="rootComposite" presStyleCnt="0"/>
      <dgm:spPr/>
    </dgm:pt>
    <dgm:pt modelId="{095C729E-1A98-4A7C-A44A-B2C3E1490803}" type="pres">
      <dgm:prSet presAssocID="{9052AA62-FF53-46E9-ABBA-AC50731921C3}" presName="rootText" presStyleLbl="node1" presStyleIdx="0" presStyleCnt="2"/>
      <dgm:spPr/>
    </dgm:pt>
    <dgm:pt modelId="{3CDA5424-3722-4EAC-9ECB-9F126CF738E7}" type="pres">
      <dgm:prSet presAssocID="{9052AA62-FF53-46E9-ABBA-AC50731921C3}" presName="rootConnector" presStyleLbl="node1" presStyleIdx="0" presStyleCnt="2"/>
      <dgm:spPr/>
    </dgm:pt>
    <dgm:pt modelId="{BAD62394-48CA-4F4B-9614-719A839F3957}" type="pres">
      <dgm:prSet presAssocID="{9052AA62-FF53-46E9-ABBA-AC50731921C3}" presName="childShape" presStyleCnt="0"/>
      <dgm:spPr/>
    </dgm:pt>
    <dgm:pt modelId="{327A31F3-D3B5-4441-8DC0-4AFF8FE2E139}" type="pres">
      <dgm:prSet presAssocID="{5846CE38-84DD-48E9-9407-536B13D8AC72}" presName="root" presStyleCnt="0"/>
      <dgm:spPr/>
    </dgm:pt>
    <dgm:pt modelId="{CE42F3BF-0E09-474C-A04A-9DFBD2EB2FD7}" type="pres">
      <dgm:prSet presAssocID="{5846CE38-84DD-48E9-9407-536B13D8AC72}" presName="rootComposite" presStyleCnt="0"/>
      <dgm:spPr/>
    </dgm:pt>
    <dgm:pt modelId="{1A72C47D-3472-4952-9D84-CD695ECF3D38}" type="pres">
      <dgm:prSet presAssocID="{5846CE38-84DD-48E9-9407-536B13D8AC72}" presName="rootText" presStyleLbl="node1" presStyleIdx="1" presStyleCnt="2"/>
      <dgm:spPr/>
    </dgm:pt>
    <dgm:pt modelId="{33341AB1-0A2C-4DFD-9603-950F7EA0644F}" type="pres">
      <dgm:prSet presAssocID="{5846CE38-84DD-48E9-9407-536B13D8AC72}" presName="rootConnector" presStyleLbl="node1" presStyleIdx="1" presStyleCnt="2"/>
      <dgm:spPr/>
    </dgm:pt>
    <dgm:pt modelId="{4137EA53-15A3-445E-82DF-4413DD228A7E}" type="pres">
      <dgm:prSet presAssocID="{5846CE38-84DD-48E9-9407-536B13D8AC72}" presName="childShape" presStyleCnt="0"/>
      <dgm:spPr/>
    </dgm:pt>
  </dgm:ptLst>
  <dgm:cxnLst>
    <dgm:cxn modelId="{D394960D-666A-47B0-B124-A696956A4933}" type="presOf" srcId="{5846CE38-84DD-48E9-9407-536B13D8AC72}" destId="{33341AB1-0A2C-4DFD-9603-950F7EA0644F}" srcOrd="1" destOrd="0" presId="urn:microsoft.com/office/officeart/2005/8/layout/hierarchy3"/>
    <dgm:cxn modelId="{46463A32-AE96-423C-8495-CFCC482352DA}" type="presOf" srcId="{5846CE38-84DD-48E9-9407-536B13D8AC72}" destId="{1A72C47D-3472-4952-9D84-CD695ECF3D38}" srcOrd="0" destOrd="0" presId="urn:microsoft.com/office/officeart/2005/8/layout/hierarchy3"/>
    <dgm:cxn modelId="{09F48539-642E-488A-8FA0-7E41A540C212}" type="presOf" srcId="{9052AA62-FF53-46E9-ABBA-AC50731921C3}" destId="{095C729E-1A98-4A7C-A44A-B2C3E1490803}" srcOrd="0" destOrd="0" presId="urn:microsoft.com/office/officeart/2005/8/layout/hierarchy3"/>
    <dgm:cxn modelId="{2F46BE6D-28B8-49C6-A0ED-BE5067EB230B}" type="presOf" srcId="{9052AA62-FF53-46E9-ABBA-AC50731921C3}" destId="{3CDA5424-3722-4EAC-9ECB-9F126CF738E7}" srcOrd="1" destOrd="0" presId="urn:microsoft.com/office/officeart/2005/8/layout/hierarchy3"/>
    <dgm:cxn modelId="{F05E3F9F-618F-4F96-B3A5-03BB51EB5308}" srcId="{B0C86135-3879-4F8E-B303-88C213AD4B87}" destId="{5846CE38-84DD-48E9-9407-536B13D8AC72}" srcOrd="1" destOrd="0" parTransId="{B0E7B164-BA22-4435-AC51-40DADA68A593}" sibTransId="{2DE70572-4930-40A0-85BD-A046535CED2C}"/>
    <dgm:cxn modelId="{0E036BA9-AE4A-49D4-A034-C6BB77D1A916}" srcId="{B0C86135-3879-4F8E-B303-88C213AD4B87}" destId="{9052AA62-FF53-46E9-ABBA-AC50731921C3}" srcOrd="0" destOrd="0" parTransId="{85CE6B35-A97B-4BFB-9AE9-87C27434662A}" sibTransId="{9FFC3312-30CF-4C6B-8D6A-08BB888D5B23}"/>
    <dgm:cxn modelId="{704829B7-2E9D-4F5D-9ABF-AAC184814247}" type="presOf" srcId="{B0C86135-3879-4F8E-B303-88C213AD4B87}" destId="{9C840DB2-DB9F-4DD6-BA67-C25F7CA8C749}" srcOrd="0" destOrd="0" presId="urn:microsoft.com/office/officeart/2005/8/layout/hierarchy3"/>
    <dgm:cxn modelId="{7AE57D63-A4D0-4448-87A8-9A6F301FD7E7}" type="presParOf" srcId="{9C840DB2-DB9F-4DD6-BA67-C25F7CA8C749}" destId="{9711DC75-6C87-4861-AE45-F8C8E9086FBA}" srcOrd="0" destOrd="0" presId="urn:microsoft.com/office/officeart/2005/8/layout/hierarchy3"/>
    <dgm:cxn modelId="{4C80E713-215C-4C11-ABEB-1A6D8062075E}" type="presParOf" srcId="{9711DC75-6C87-4861-AE45-F8C8E9086FBA}" destId="{A1D4C386-EB67-4F45-AEDA-68BAED37FBC1}" srcOrd="0" destOrd="0" presId="urn:microsoft.com/office/officeart/2005/8/layout/hierarchy3"/>
    <dgm:cxn modelId="{E189B706-5B81-4881-9D8F-FBCC352EEE2D}" type="presParOf" srcId="{A1D4C386-EB67-4F45-AEDA-68BAED37FBC1}" destId="{095C729E-1A98-4A7C-A44A-B2C3E1490803}" srcOrd="0" destOrd="0" presId="urn:microsoft.com/office/officeart/2005/8/layout/hierarchy3"/>
    <dgm:cxn modelId="{18A04253-2D3B-408C-80B2-7DCF0F5A15D8}" type="presParOf" srcId="{A1D4C386-EB67-4F45-AEDA-68BAED37FBC1}" destId="{3CDA5424-3722-4EAC-9ECB-9F126CF738E7}" srcOrd="1" destOrd="0" presId="urn:microsoft.com/office/officeart/2005/8/layout/hierarchy3"/>
    <dgm:cxn modelId="{D550D012-866F-439A-8EB4-8FFF82D4491E}" type="presParOf" srcId="{9711DC75-6C87-4861-AE45-F8C8E9086FBA}" destId="{BAD62394-48CA-4F4B-9614-719A839F3957}" srcOrd="1" destOrd="0" presId="urn:microsoft.com/office/officeart/2005/8/layout/hierarchy3"/>
    <dgm:cxn modelId="{570C100D-D357-4820-9F3E-63556ACA09EC}" type="presParOf" srcId="{9C840DB2-DB9F-4DD6-BA67-C25F7CA8C749}" destId="{327A31F3-D3B5-4441-8DC0-4AFF8FE2E139}" srcOrd="1" destOrd="0" presId="urn:microsoft.com/office/officeart/2005/8/layout/hierarchy3"/>
    <dgm:cxn modelId="{4A1B7CBB-4430-4536-8934-14C8CD895131}" type="presParOf" srcId="{327A31F3-D3B5-4441-8DC0-4AFF8FE2E139}" destId="{CE42F3BF-0E09-474C-A04A-9DFBD2EB2FD7}" srcOrd="0" destOrd="0" presId="urn:microsoft.com/office/officeart/2005/8/layout/hierarchy3"/>
    <dgm:cxn modelId="{4C56B381-F52F-4AA3-B776-C121EDBA6561}" type="presParOf" srcId="{CE42F3BF-0E09-474C-A04A-9DFBD2EB2FD7}" destId="{1A72C47D-3472-4952-9D84-CD695ECF3D38}" srcOrd="0" destOrd="0" presId="urn:microsoft.com/office/officeart/2005/8/layout/hierarchy3"/>
    <dgm:cxn modelId="{4717BE69-E944-4F13-A621-1CDEE0DFA5CD}" type="presParOf" srcId="{CE42F3BF-0E09-474C-A04A-9DFBD2EB2FD7}" destId="{33341AB1-0A2C-4DFD-9603-950F7EA0644F}" srcOrd="1" destOrd="0" presId="urn:microsoft.com/office/officeart/2005/8/layout/hierarchy3"/>
    <dgm:cxn modelId="{598E2D7B-3371-4B40-91B0-165EBEAFFD32}" type="presParOf" srcId="{327A31F3-D3B5-4441-8DC0-4AFF8FE2E139}" destId="{4137EA53-15A3-445E-82DF-4413DD228A7E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5C729E-1A98-4A7C-A44A-B2C3E1490803}">
      <dsp:nvSpPr>
        <dsp:cNvPr id="0" name=""/>
        <dsp:cNvSpPr/>
      </dsp:nvSpPr>
      <dsp:spPr>
        <a:xfrm>
          <a:off x="1333" y="882495"/>
          <a:ext cx="4855627" cy="242781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200" kern="1200"/>
            <a:t>Parametry zostały dobrane używając funkcji grid_search wykorzystujących wiele metryk oceniania jakości modelu, co zapewnia, że wybrane przez nas parametry dają najlepsze możliwe wyniki</a:t>
          </a:r>
          <a:endParaRPr lang="en-US" sz="2200" kern="1200"/>
        </a:p>
      </dsp:txBody>
      <dsp:txXfrm>
        <a:off x="72441" y="953603"/>
        <a:ext cx="4713411" cy="2285597"/>
      </dsp:txXfrm>
    </dsp:sp>
    <dsp:sp modelId="{1A72C47D-3472-4952-9D84-CD695ECF3D38}">
      <dsp:nvSpPr>
        <dsp:cNvPr id="0" name=""/>
        <dsp:cNvSpPr/>
      </dsp:nvSpPr>
      <dsp:spPr>
        <a:xfrm>
          <a:off x="6070867" y="882495"/>
          <a:ext cx="4855627" cy="242781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200" kern="1200"/>
            <a:t>Chcieliśmy uniknąć oczywistego podziału na osoby zatrudnione i nie, zatem postanowiliśmy wybrać podział na 3 klastry zamiast 2.</a:t>
          </a:r>
          <a:endParaRPr lang="en-US" sz="2200" kern="1200"/>
        </a:p>
      </dsp:txBody>
      <dsp:txXfrm>
        <a:off x="6141975" y="953603"/>
        <a:ext cx="4713411" cy="22855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09.06.2025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91757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09.06.2025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67380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09.06.2025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234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09.06.2025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83036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09.06.2025</a:t>
            </a:fld>
            <a:endParaRPr lang="pl-PL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61808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09.06.2025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44797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09.06.2025</a:t>
            </a:fld>
            <a:endParaRPr lang="pl-PL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50839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09.06.2025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15530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09.06.2025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24906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09.06.2025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54508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09.06.2025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40386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8AA868-8872-43E4-8C98-D34DABD1FD38}" type="datetimeFigureOut">
              <a:rPr lang="pl-PL" smtClean="0"/>
              <a:t>09.06.2025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26633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nezukokamaado/auto-loan-dataset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4" name="Rectangle 60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62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64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66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68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</p:spPr>
        <p:txBody>
          <a:bodyPr>
            <a:normAutofit/>
          </a:bodyPr>
          <a:lstStyle/>
          <a:p>
            <a:pPr algn="r"/>
            <a:r>
              <a:rPr lang="pl-PL" sz="4800">
                <a:solidFill>
                  <a:srgbClr val="FFFFFF"/>
                </a:solidFill>
              </a:rPr>
              <a:t>WUM- Projekt 2:</a:t>
            </a:r>
            <a:br>
              <a:rPr lang="pl-PL" sz="4800">
                <a:solidFill>
                  <a:srgbClr val="FFFFFF"/>
                </a:solidFill>
              </a:rPr>
            </a:br>
            <a:r>
              <a:rPr lang="pl-PL" sz="4800">
                <a:solidFill>
                  <a:srgbClr val="FFFFFF"/>
                </a:solidFill>
              </a:rPr>
              <a:t>Klasteryzacja danych o kredytobiorcach</a:t>
            </a:r>
          </a:p>
        </p:txBody>
      </p:sp>
      <p:sp>
        <p:nvSpPr>
          <p:cNvPr id="79" name="Rectangle 70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931874" y="4797188"/>
            <a:ext cx="6051236" cy="1241828"/>
          </a:xfrm>
        </p:spPr>
        <p:txBody>
          <a:bodyPr vert="horz" lIns="91440" tIns="45720" rIns="91440" bIns="45720" rtlCol="0">
            <a:normAutofit/>
          </a:bodyPr>
          <a:lstStyle/>
          <a:p>
            <a:pPr algn="r"/>
            <a:r>
              <a:rPr lang="pl-PL">
                <a:solidFill>
                  <a:srgbClr val="FFFFFF"/>
                </a:solidFill>
              </a:rPr>
              <a:t>Cezary Polkowski</a:t>
            </a:r>
            <a:br>
              <a:rPr lang="pl-PL">
                <a:solidFill>
                  <a:srgbClr val="FFFFFF"/>
                </a:solidFill>
              </a:rPr>
            </a:br>
            <a:r>
              <a:rPr lang="pl-PL">
                <a:solidFill>
                  <a:srgbClr val="FFFFFF"/>
                </a:solidFill>
              </a:rPr>
              <a:t>Alicja Przeździecka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317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44A42D-211F-BF00-E0EA-574ED5487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pl-PL" sz="4000">
                <a:solidFill>
                  <a:srgbClr val="FFFFFF"/>
                </a:solidFill>
              </a:rPr>
              <a:t>O celu biznesowym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F09C6-055C-5704-175E-BCB73CC5FA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pl-PL" sz="2000"/>
              <a:t>Za cel biznesowy uznaliśmy logiczny podział kredytobiorców na grupy w oparciu na zauważalne trendy, pozwalający na szybsze  dostosowanie ofert kredytowych.</a:t>
            </a:r>
          </a:p>
        </p:txBody>
      </p:sp>
    </p:spTree>
    <p:extLst>
      <p:ext uri="{BB962C8B-B14F-4D97-AF65-F5344CB8AC3E}">
        <p14:creationId xmlns:p14="http://schemas.microsoft.com/office/powerpoint/2010/main" val="2962284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E6679-7DCD-7564-66DE-5EB9B53E9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pl-PL" sz="4000">
                <a:solidFill>
                  <a:srgbClr val="FFFFFF"/>
                </a:solidFill>
              </a:rPr>
              <a:t>O Dataset-cie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41305-F0B0-6128-E230-2F7831ABB3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 sz="2000"/>
              <a:t>Dataset który był podstawą naszej pracy to:</a:t>
            </a:r>
            <a:endParaRPr lang="pl-PL" sz="2000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pl-PL" sz="2000" u="sng">
                <a:ea typeface="+mn-lt"/>
                <a:cs typeface="+mn-lt"/>
                <a:hlinkClick r:id="rId2"/>
              </a:rPr>
              <a:t>https://www.kaggle.com/datasets/nezukokamaado/auto-loan-dataset</a:t>
            </a:r>
            <a:endParaRPr lang="pl-PL" sz="2000" u="sng">
              <a:ea typeface="+mn-lt"/>
              <a:cs typeface="+mn-lt"/>
            </a:endParaRPr>
          </a:p>
          <a:p>
            <a:r>
              <a:rPr lang="pl-PL" sz="2000"/>
              <a:t>Rozmiar tego datasetu (38000 wierszy) zapewnia brak problemów związanych z małą ilością danych</a:t>
            </a:r>
          </a:p>
          <a:p>
            <a:r>
              <a:rPr lang="pl-PL" sz="2000"/>
              <a:t>Aby nasz model zwracał wiarygodne wyniki postanowiliśmy usunąć kolumny które są efektami podobnych analiz: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pl-PL" sz="2000">
                <a:latin typeface="Aptos"/>
              </a:rPr>
              <a:t>Grade – ocena kredytowa</a:t>
            </a:r>
            <a:endParaRPr lang="pl-PL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pl-PL" sz="2000"/>
              <a:t>Sub_grade – podkategora oceny kredytowej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pl-PL" sz="2000"/>
              <a:t>Int_rate – oprocentowanie</a:t>
            </a:r>
          </a:p>
          <a:p>
            <a:r>
              <a:rPr lang="pl-PL" sz="2000"/>
              <a:t>To nie pozwala modelowi 'oszukiwać' poprzez branie pod uwagę tych odgórnie narzuconych statystyk</a:t>
            </a:r>
          </a:p>
        </p:txBody>
      </p:sp>
    </p:spTree>
    <p:extLst>
      <p:ext uri="{BB962C8B-B14F-4D97-AF65-F5344CB8AC3E}">
        <p14:creationId xmlns:p14="http://schemas.microsoft.com/office/powerpoint/2010/main" val="3721291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E92D96-408E-5473-7DCF-6C22F1498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pl-PL" sz="4000">
                <a:solidFill>
                  <a:srgbClr val="FFFFFF"/>
                </a:solidFill>
              </a:rPr>
              <a:t>O modelu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2AFF8-F607-592D-5001-10238BFECD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 sz="2000"/>
              <a:t>Nasz model jest modelem GMM - (Gaussian Mixture) z parametrami</a:t>
            </a:r>
          </a:p>
          <a:p>
            <a:pPr lvl="1"/>
            <a:r>
              <a:rPr lang="pl-PL" sz="2000">
                <a:ea typeface="+mn-lt"/>
                <a:cs typeface="+mn-lt"/>
              </a:rPr>
              <a:t>Parametr </a:t>
            </a:r>
            <a:r>
              <a:rPr lang="pl-PL" sz="2000">
                <a:latin typeface="Aptos"/>
              </a:rPr>
              <a:t>n_components=3</a:t>
            </a:r>
            <a:r>
              <a:rPr lang="pl-PL" sz="2000">
                <a:ea typeface="+mn-lt"/>
                <a:cs typeface="+mn-lt"/>
              </a:rPr>
              <a:t> określa liczbę grup w danych.</a:t>
            </a:r>
          </a:p>
          <a:p>
            <a:pPr lvl="1"/>
            <a:r>
              <a:rPr lang="pl-PL" sz="2000">
                <a:ea typeface="+mn-lt"/>
                <a:cs typeface="+mn-lt"/>
              </a:rPr>
              <a:t>covariance_type='spherical' zakłada, że wszystkie klastry mają identyczną wariancję w każdym wymiarze, co upraszcza model i redukuje ryzyko overfittingu przy braku wyraźnych korelacji między cechami.</a:t>
            </a:r>
            <a:endParaRPr lang="pl-PL" sz="2000"/>
          </a:p>
          <a:p>
            <a:pPr lvl="1"/>
            <a:r>
              <a:rPr lang="pl-PL" sz="2000">
                <a:ea typeface="+mn-lt"/>
                <a:cs typeface="+mn-lt"/>
              </a:rPr>
              <a:t>random_state=42 gwarantuje powtarzalność eksperymentu, co jest kluczowe w prezentacjach, aby wyniki mogły być zweryfikowane przez zespół lub klienta. Stałe ziarno losowości eliminuje przypadkowość, zwiększając wiarygodność rekomendacji biznesowych.</a:t>
            </a:r>
            <a:endParaRPr lang="pl-PL" sz="2000"/>
          </a:p>
          <a:p>
            <a:pPr lvl="1"/>
            <a:endParaRPr lang="pl-PL" sz="2000"/>
          </a:p>
          <a:p>
            <a:endParaRPr lang="pl-PL" sz="2000"/>
          </a:p>
        </p:txBody>
      </p:sp>
    </p:spTree>
    <p:extLst>
      <p:ext uri="{BB962C8B-B14F-4D97-AF65-F5344CB8AC3E}">
        <p14:creationId xmlns:p14="http://schemas.microsoft.com/office/powerpoint/2010/main" val="1820478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8D1C5F-419D-9F14-8640-75A59CC53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pl-PL" sz="4000">
                <a:solidFill>
                  <a:srgbClr val="FFFFFF"/>
                </a:solidFill>
              </a:rPr>
              <a:t>O doborze parametrów</a:t>
            </a:r>
          </a:p>
        </p:txBody>
      </p:sp>
      <p:graphicFrame>
        <p:nvGraphicFramePr>
          <p:cNvPr id="27" name="Content Placeholder 2">
            <a:extLst>
              <a:ext uri="{FF2B5EF4-FFF2-40B4-BE49-F238E27FC236}">
                <a16:creationId xmlns:a16="http://schemas.microsoft.com/office/drawing/2014/main" id="{CF0A51D8-5D32-3A1E-0228-4CBF441A48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0270253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14955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8224AA-E265-617C-0DC5-29C137E39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 podziale</a:t>
            </a:r>
          </a:p>
        </p:txBody>
      </p:sp>
      <p:pic>
        <p:nvPicPr>
          <p:cNvPr id="4" name="Content Placeholder 3" descr="Obraz zawierający tekst, zrzut ekranu, diagram&#10;&#10;Zawartość wygenerowana przez AI może być niepoprawna.">
            <a:extLst>
              <a:ext uri="{FF2B5EF4-FFF2-40B4-BE49-F238E27FC236}">
                <a16:creationId xmlns:a16="http://schemas.microsoft.com/office/drawing/2014/main" id="{CF035F3D-633B-A809-35DE-642D8DC82C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6536" y="1966293"/>
            <a:ext cx="10858927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6520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F3EE16-E5EA-6909-23FA-C12A8FA1E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pl-PL" sz="4000">
                <a:solidFill>
                  <a:srgbClr val="FFFFFF"/>
                </a:solidFill>
              </a:rPr>
              <a:t>O podziale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EB10FA-0F7E-0C45-47D2-AC3905204A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 sz="2000"/>
              <a:t>Klaster 0 (czerwony) - klienci z potencjałem ryzyka - niskie wartości kredytów, mniej kont bankowych, dużo klientów source_verified, klienci wynajmujący dom/mieszkanie, kredyty na 36 miesięcy, niższe dochody</a:t>
            </a:r>
          </a:p>
          <a:p>
            <a:r>
              <a:rPr lang="pl-PL" sz="2000"/>
              <a:t>Klaster 1 (żółty) - klienci godni zaufania - wysokie wartości kredytów, więcej kont bankowych, dużo klientów ze statusem verified, klienci spłacający dom/mieszkanie, wyższe dochody</a:t>
            </a:r>
          </a:p>
          <a:p>
            <a:r>
              <a:rPr lang="pl-PL" sz="2000"/>
              <a:t>Klaster 2 (fioletowy) - klienci ryzykowni - osoby niezatrudione, osoby z zamożnych stanów</a:t>
            </a:r>
          </a:p>
          <a:p>
            <a:pPr marL="0" indent="0">
              <a:buNone/>
            </a:pPr>
            <a:r>
              <a:rPr lang="pl-PL" sz="2000">
                <a:latin typeface="Segoe UI Historic"/>
                <a:ea typeface="Segoe UI Historic"/>
                <a:cs typeface="Segoe UI Historic"/>
              </a:rPr>
              <a:t> </a:t>
            </a:r>
            <a:br>
              <a:rPr lang="pl-PL" sz="2000">
                <a:latin typeface="Segoe UI Historic"/>
                <a:ea typeface="Segoe UI Historic"/>
                <a:cs typeface="Segoe UI Historic"/>
              </a:rPr>
            </a:br>
            <a:endParaRPr lang="pl-PL" sz="2000">
              <a:latin typeface="Segoe UI Historic"/>
              <a:ea typeface="Segoe UI Historic"/>
              <a:cs typeface="Segoe UI Historic"/>
            </a:endParaRPr>
          </a:p>
        </p:txBody>
      </p:sp>
    </p:spTree>
    <p:extLst>
      <p:ext uri="{BB962C8B-B14F-4D97-AF65-F5344CB8AC3E}">
        <p14:creationId xmlns:p14="http://schemas.microsoft.com/office/powerpoint/2010/main" val="11033151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03A740-CF15-B4C4-39B4-3B669A59A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307" y="647211"/>
            <a:ext cx="3684216" cy="3327141"/>
          </a:xfrm>
        </p:spPr>
        <p:txBody>
          <a:bodyPr anchor="b">
            <a:normAutofit/>
          </a:bodyPr>
          <a:lstStyle/>
          <a:p>
            <a:pPr algn="r"/>
            <a:r>
              <a:rPr lang="pl-PL" sz="4000">
                <a:solidFill>
                  <a:srgbClr val="FFFFFF"/>
                </a:solidFill>
              </a:rPr>
              <a:t>O wiarygodnoś</a:t>
            </a:r>
            <a:r>
              <a:rPr lang="pl-PL" sz="4000" dirty="0">
                <a:solidFill>
                  <a:srgbClr val="FFFFFF"/>
                </a:solidFill>
              </a:rPr>
              <a:t>ci naszej pracy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8296B0-5976-B4F7-B66E-6F030B4C1A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 sz="2000"/>
              <a:t>Stworzyliśmy kilkadziesiąt modeli i za pomocą różnych metryk wybraliśmy z nich najlepszy.</a:t>
            </a:r>
          </a:p>
          <a:p>
            <a:r>
              <a:rPr lang="pl-PL" sz="2000"/>
              <a:t>Nasza praca była na bieżąco walidowana przez niezależny zespół ekspertów, którzy byli gotowi kwestionować nasze decyzje i proponować rozwiązania problemów</a:t>
            </a:r>
          </a:p>
        </p:txBody>
      </p:sp>
    </p:spTree>
    <p:extLst>
      <p:ext uri="{BB962C8B-B14F-4D97-AF65-F5344CB8AC3E}">
        <p14:creationId xmlns:p14="http://schemas.microsoft.com/office/powerpoint/2010/main" val="35349308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7855D3-4257-DC10-C7D5-BC21EA9B8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pl-PL" sz="4000">
                <a:solidFill>
                  <a:srgbClr val="FFFFFF"/>
                </a:solidFill>
              </a:rPr>
              <a:t>O wynikach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AB34EE-EDE1-055C-B0E7-FB35E71A94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 sz="1900"/>
              <a:t>Uważamy że nasz model ma praktyczne zastosowanie przy podziale kredytobiorców. </a:t>
            </a:r>
          </a:p>
          <a:p>
            <a:r>
              <a:rPr lang="pl-PL" sz="1900"/>
              <a:t>Przykładowe zastosowania: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pl-PL" sz="1900"/>
              <a:t>Wyniki pozwalają na </a:t>
            </a:r>
            <a:r>
              <a:rPr lang="pl-PL" sz="1900">
                <a:latin typeface="Aptos"/>
                <a:ea typeface="Segoe UI Historic"/>
                <a:cs typeface="Segoe UI Historic"/>
              </a:rPr>
              <a:t>lepsze zrozumienie, dlaczego klienci o zbliżonych cechach demograficznych czy finansowych mogą różnić się pod względem zachowań kredytowych, co przekłada się na efektywniejsze zarządzanie ryzykiem i personalizację oferty kredytowej.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pl-PL" sz="1900"/>
              <a:t>Możliwość szybkiej i powierzchownej kategoryzacji klientów w celu zawężenia ilości informacji co potencjalnie może zwiększyć efektywność kredytodawców</a:t>
            </a:r>
          </a:p>
        </p:txBody>
      </p:sp>
    </p:spTree>
    <p:extLst>
      <p:ext uri="{BB962C8B-B14F-4D97-AF65-F5344CB8AC3E}">
        <p14:creationId xmlns:p14="http://schemas.microsoft.com/office/powerpoint/2010/main" val="29911227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75E648-5462-1BC6-0FEA-0EB6E6EA0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</p:spPr>
        <p:txBody>
          <a:bodyPr>
            <a:normAutofit/>
          </a:bodyPr>
          <a:lstStyle/>
          <a:p>
            <a:pPr algn="r"/>
            <a:r>
              <a:rPr lang="pl-PL" sz="4800">
                <a:solidFill>
                  <a:srgbClr val="FFFFFF"/>
                </a:solidFill>
              </a:rPr>
              <a:t>Dziękujemy za uwagę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DB02C-B472-81BF-376A-D86DAFE8BE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1874" y="4797188"/>
            <a:ext cx="6051236" cy="1241828"/>
          </a:xfrm>
        </p:spPr>
        <p:txBody>
          <a:bodyPr>
            <a:normAutofit/>
          </a:bodyPr>
          <a:lstStyle/>
          <a:p>
            <a:pPr algn="r"/>
            <a:endParaRPr lang="pl-PL">
              <a:solidFill>
                <a:srgbClr val="FFFFFF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962548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Motyw pakietu Office</vt:lpstr>
      <vt:lpstr>WUM- Projekt 2: Klasteryzacja danych o kredytobiorcach</vt:lpstr>
      <vt:lpstr>O celu biznesowym</vt:lpstr>
      <vt:lpstr>O Dataset-cie</vt:lpstr>
      <vt:lpstr>O modelu</vt:lpstr>
      <vt:lpstr>O doborze parametrów</vt:lpstr>
      <vt:lpstr>O podziale</vt:lpstr>
      <vt:lpstr>O podziale</vt:lpstr>
      <vt:lpstr>O wiarygodności naszej pracy</vt:lpstr>
      <vt:lpstr>O wynikach</vt:lpstr>
      <vt:lpstr>Dziękujemy za uwagę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361</cp:revision>
  <dcterms:created xsi:type="dcterms:W3CDTF">2025-06-09T15:52:10Z</dcterms:created>
  <dcterms:modified xsi:type="dcterms:W3CDTF">2025-06-09T17:04:56Z</dcterms:modified>
</cp:coreProperties>
</file>